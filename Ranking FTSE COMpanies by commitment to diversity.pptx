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60" r:id="rId5"/>
    <p:sldId id="261" r:id="rId6"/>
    <p:sldId id="259"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D6A3F2-2053-4B5B-A282-C4E1D3DC723E}" v="16" dt="2026-03-13T13:33:17.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i ." userId="96efa214ebe8ec99" providerId="LiveId" clId="{21F4A21F-3792-49E0-B931-72B74BB3656B}"/>
    <pc:docChg chg="undo custSel addSld delSld modSld">
      <pc:chgData name="Ashli ." userId="96efa214ebe8ec99" providerId="LiveId" clId="{21F4A21F-3792-49E0-B931-72B74BB3656B}" dt="2026-03-14T10:41:26.994" v="1672" actId="47"/>
      <pc:docMkLst>
        <pc:docMk/>
      </pc:docMkLst>
      <pc:sldChg chg="modSp mod">
        <pc:chgData name="Ashli ." userId="96efa214ebe8ec99" providerId="LiveId" clId="{21F4A21F-3792-49E0-B931-72B74BB3656B}" dt="2026-03-13T08:10:23.637" v="24" actId="27636"/>
        <pc:sldMkLst>
          <pc:docMk/>
          <pc:sldMk cId="519993450" sldId="257"/>
        </pc:sldMkLst>
        <pc:spChg chg="mod">
          <ac:chgData name="Ashli ." userId="96efa214ebe8ec99" providerId="LiveId" clId="{21F4A21F-3792-49E0-B931-72B74BB3656B}" dt="2026-03-13T08:10:23.637" v="24" actId="27636"/>
          <ac:spMkLst>
            <pc:docMk/>
            <pc:sldMk cId="519993450" sldId="257"/>
            <ac:spMk id="3" creationId="{A1B4793C-3057-BB10-CF53-C927C2C3B1CF}"/>
          </ac:spMkLst>
        </pc:spChg>
      </pc:sldChg>
      <pc:sldChg chg="modSp mod">
        <pc:chgData name="Ashli ." userId="96efa214ebe8ec99" providerId="LiveId" clId="{21F4A21F-3792-49E0-B931-72B74BB3656B}" dt="2026-03-13T13:31:38.228" v="1191" actId="27636"/>
        <pc:sldMkLst>
          <pc:docMk/>
          <pc:sldMk cId="1530447269" sldId="258"/>
        </pc:sldMkLst>
        <pc:spChg chg="mod">
          <ac:chgData name="Ashli ." userId="96efa214ebe8ec99" providerId="LiveId" clId="{21F4A21F-3792-49E0-B931-72B74BB3656B}" dt="2026-03-13T08:13:41.715" v="197" actId="1076"/>
          <ac:spMkLst>
            <pc:docMk/>
            <pc:sldMk cId="1530447269" sldId="258"/>
            <ac:spMk id="2" creationId="{FFDAEDCD-4C7E-6D3A-558B-3E458D7A9937}"/>
          </ac:spMkLst>
        </pc:spChg>
        <pc:spChg chg="mod">
          <ac:chgData name="Ashli ." userId="96efa214ebe8ec99" providerId="LiveId" clId="{21F4A21F-3792-49E0-B931-72B74BB3656B}" dt="2026-03-13T13:31:38.228" v="1191" actId="27636"/>
          <ac:spMkLst>
            <pc:docMk/>
            <pc:sldMk cId="1530447269" sldId="258"/>
            <ac:spMk id="3" creationId="{5356CA1C-A3C1-0D7C-4604-6EAE2A6A9D89}"/>
          </ac:spMkLst>
        </pc:spChg>
      </pc:sldChg>
      <pc:sldChg chg="modSp mod">
        <pc:chgData name="Ashli ." userId="96efa214ebe8ec99" providerId="LiveId" clId="{21F4A21F-3792-49E0-B931-72B74BB3656B}" dt="2026-03-13T08:30:24.280" v="528" actId="207"/>
        <pc:sldMkLst>
          <pc:docMk/>
          <pc:sldMk cId="2415526348" sldId="260"/>
        </pc:sldMkLst>
        <pc:spChg chg="mod">
          <ac:chgData name="Ashli ." userId="96efa214ebe8ec99" providerId="LiveId" clId="{21F4A21F-3792-49E0-B931-72B74BB3656B}" dt="2026-03-13T08:30:24.280" v="528" actId="207"/>
          <ac:spMkLst>
            <pc:docMk/>
            <pc:sldMk cId="2415526348" sldId="260"/>
            <ac:spMk id="3" creationId="{AB1AE57D-595F-5008-AE98-8C84AEB17C90}"/>
          </ac:spMkLst>
        </pc:spChg>
      </pc:sldChg>
      <pc:sldChg chg="modSp mod">
        <pc:chgData name="Ashli ." userId="96efa214ebe8ec99" providerId="LiveId" clId="{21F4A21F-3792-49E0-B931-72B74BB3656B}" dt="2026-03-13T08:33:28.254" v="530" actId="5793"/>
        <pc:sldMkLst>
          <pc:docMk/>
          <pc:sldMk cId="3112115014" sldId="262"/>
        </pc:sldMkLst>
        <pc:spChg chg="mod">
          <ac:chgData name="Ashli ." userId="96efa214ebe8ec99" providerId="LiveId" clId="{21F4A21F-3792-49E0-B931-72B74BB3656B}" dt="2026-03-13T08:33:28.254" v="530" actId="5793"/>
          <ac:spMkLst>
            <pc:docMk/>
            <pc:sldMk cId="3112115014" sldId="262"/>
            <ac:spMk id="3" creationId="{72A32190-933A-8660-6FED-A8C2A63C9573}"/>
          </ac:spMkLst>
        </pc:spChg>
      </pc:sldChg>
      <pc:sldChg chg="addSp delSp modSp mod">
        <pc:chgData name="Ashli ." userId="96efa214ebe8ec99" providerId="LiveId" clId="{21F4A21F-3792-49E0-B931-72B74BB3656B}" dt="2026-03-13T08:00:07.615" v="18" actId="1036"/>
        <pc:sldMkLst>
          <pc:docMk/>
          <pc:sldMk cId="3867961986" sldId="263"/>
        </pc:sldMkLst>
        <pc:spChg chg="add del mod">
          <ac:chgData name="Ashli ." userId="96efa214ebe8ec99" providerId="LiveId" clId="{21F4A21F-3792-49E0-B931-72B74BB3656B}" dt="2026-03-13T07:48:28.476" v="13" actId="478"/>
          <ac:spMkLst>
            <pc:docMk/>
            <pc:sldMk cId="3867961986" sldId="263"/>
            <ac:spMk id="2" creationId="{DECF9BF6-A2DC-D2D2-52BA-80A8206DA5ED}"/>
          </ac:spMkLst>
        </pc:spChg>
        <pc:spChg chg="mod">
          <ac:chgData name="Ashli ." userId="96efa214ebe8ec99" providerId="LiveId" clId="{21F4A21F-3792-49E0-B931-72B74BB3656B}" dt="2026-03-13T08:00:07.615" v="18" actId="1036"/>
          <ac:spMkLst>
            <pc:docMk/>
            <pc:sldMk cId="3867961986" sldId="263"/>
            <ac:spMk id="14" creationId="{7C5D0D5A-C0B9-3910-97CB-2EEBAF3C3E42}"/>
          </ac:spMkLst>
        </pc:spChg>
        <pc:picChg chg="mod">
          <ac:chgData name="Ashli ." userId="96efa214ebe8ec99" providerId="LiveId" clId="{21F4A21F-3792-49E0-B931-72B74BB3656B}" dt="2026-03-13T07:48:43.307" v="17" actId="14100"/>
          <ac:picMkLst>
            <pc:docMk/>
            <pc:sldMk cId="3867961986" sldId="263"/>
            <ac:picMk id="4" creationId="{41F2DDA3-FED0-0F6C-240A-BE38A0C18B2B}"/>
          </ac:picMkLst>
        </pc:picChg>
        <pc:picChg chg="mod">
          <ac:chgData name="Ashli ." userId="96efa214ebe8ec99" providerId="LiveId" clId="{21F4A21F-3792-49E0-B931-72B74BB3656B}" dt="2026-03-13T07:48:39.462" v="16" actId="14100"/>
          <ac:picMkLst>
            <pc:docMk/>
            <pc:sldMk cId="3867961986" sldId="263"/>
            <ac:picMk id="5" creationId="{E320A39E-BCB2-3425-6F68-39FC7EBA4C8A}"/>
          </ac:picMkLst>
        </pc:picChg>
      </pc:sldChg>
      <pc:sldChg chg="modSp mod">
        <pc:chgData name="Ashli ." userId="96efa214ebe8ec99" providerId="LiveId" clId="{21F4A21F-3792-49E0-B931-72B74BB3656B}" dt="2026-03-13T13:33:14.093" v="1449" actId="20577"/>
        <pc:sldMkLst>
          <pc:docMk/>
          <pc:sldMk cId="2144011159" sldId="264"/>
        </pc:sldMkLst>
        <pc:spChg chg="mod">
          <ac:chgData name="Ashli ." userId="96efa214ebe8ec99" providerId="LiveId" clId="{21F4A21F-3792-49E0-B931-72B74BB3656B}" dt="2026-03-13T13:33:14.093" v="1449" actId="20577"/>
          <ac:spMkLst>
            <pc:docMk/>
            <pc:sldMk cId="2144011159" sldId="264"/>
            <ac:spMk id="3" creationId="{F72424CE-31AF-BBBB-D4F1-E29990283FC8}"/>
          </ac:spMkLst>
        </pc:spChg>
      </pc:sldChg>
      <pc:sldChg chg="modSp new mod">
        <pc:chgData name="Ashli ." userId="96efa214ebe8ec99" providerId="LiveId" clId="{21F4A21F-3792-49E0-B931-72B74BB3656B}" dt="2026-03-13T13:34:31.252" v="1670" actId="20577"/>
        <pc:sldMkLst>
          <pc:docMk/>
          <pc:sldMk cId="4024510065" sldId="265"/>
        </pc:sldMkLst>
        <pc:spChg chg="mod">
          <ac:chgData name="Ashli ." userId="96efa214ebe8ec99" providerId="LiveId" clId="{21F4A21F-3792-49E0-B931-72B74BB3656B}" dt="2026-03-13T13:34:31.252" v="1670" actId="20577"/>
          <ac:spMkLst>
            <pc:docMk/>
            <pc:sldMk cId="4024510065" sldId="265"/>
            <ac:spMk id="3" creationId="{F00DE444-A4F0-2B6C-C9B0-A43C54E96631}"/>
          </ac:spMkLst>
        </pc:spChg>
      </pc:sldChg>
      <pc:sldChg chg="new del">
        <pc:chgData name="Ashli ." userId="96efa214ebe8ec99" providerId="LiveId" clId="{21F4A21F-3792-49E0-B931-72B74BB3656B}" dt="2026-03-14T10:41:26.994" v="1672" actId="47"/>
        <pc:sldMkLst>
          <pc:docMk/>
          <pc:sldMk cId="1726994077"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5584CD-85AA-4BF2-9F92-6B56E3959DE9}"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458DC0-81BC-4321-A669-9B010CAFA857}" type="slidenum">
              <a:rPr lang="en-IN" smtClean="0"/>
              <a:t>‹#›</a:t>
            </a:fld>
            <a:endParaRPr lang="en-IN"/>
          </a:p>
        </p:txBody>
      </p:sp>
    </p:spTree>
    <p:extLst>
      <p:ext uri="{BB962C8B-B14F-4D97-AF65-F5344CB8AC3E}">
        <p14:creationId xmlns:p14="http://schemas.microsoft.com/office/powerpoint/2010/main" val="3022207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573969F-F38C-4003-99B8-33DC03FFE885}"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91A0A93B-768D-4887-99D3-9B150310649D}" type="slidenum">
              <a:rPr lang="en-IN" smtClean="0"/>
              <a:t>‹#›</a:t>
            </a:fld>
            <a:endParaRPr lang="en-IN"/>
          </a:p>
        </p:txBody>
      </p:sp>
    </p:spTree>
    <p:extLst>
      <p:ext uri="{BB962C8B-B14F-4D97-AF65-F5344CB8AC3E}">
        <p14:creationId xmlns:p14="http://schemas.microsoft.com/office/powerpoint/2010/main" val="3739434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73969F-F38C-4003-99B8-33DC03FFE885}"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A0A93B-768D-4887-99D3-9B150310649D}" type="slidenum">
              <a:rPr lang="en-IN" smtClean="0"/>
              <a:t>‹#›</a:t>
            </a:fld>
            <a:endParaRPr lang="en-IN"/>
          </a:p>
        </p:txBody>
      </p:sp>
    </p:spTree>
    <p:extLst>
      <p:ext uri="{BB962C8B-B14F-4D97-AF65-F5344CB8AC3E}">
        <p14:creationId xmlns:p14="http://schemas.microsoft.com/office/powerpoint/2010/main" val="250236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A573969F-F38C-4003-99B8-33DC03FFE885}" type="datetimeFigureOut">
              <a:rPr lang="en-IN" smtClean="0"/>
              <a:t>13-03-2026</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1A0A93B-768D-4887-99D3-9B150310649D}" type="slidenum">
              <a:rPr lang="en-IN" smtClean="0"/>
              <a:t>‹#›</a:t>
            </a:fld>
            <a:endParaRPr lang="en-IN"/>
          </a:p>
        </p:txBody>
      </p:sp>
    </p:spTree>
    <p:extLst>
      <p:ext uri="{BB962C8B-B14F-4D97-AF65-F5344CB8AC3E}">
        <p14:creationId xmlns:p14="http://schemas.microsoft.com/office/powerpoint/2010/main" val="2295726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73969F-F38C-4003-99B8-33DC03FFE885}"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A0A93B-768D-4887-99D3-9B150310649D}" type="slidenum">
              <a:rPr lang="en-IN" smtClean="0"/>
              <a:t>‹#›</a:t>
            </a:fld>
            <a:endParaRPr lang="en-IN"/>
          </a:p>
        </p:txBody>
      </p:sp>
    </p:spTree>
    <p:extLst>
      <p:ext uri="{BB962C8B-B14F-4D97-AF65-F5344CB8AC3E}">
        <p14:creationId xmlns:p14="http://schemas.microsoft.com/office/powerpoint/2010/main" val="684527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73969F-F38C-4003-99B8-33DC03FFE885}" type="datetimeFigureOut">
              <a:rPr lang="en-IN" smtClean="0"/>
              <a:t>13-03-2026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1A0A93B-768D-4887-99D3-9B150310649D}" type="slidenum">
              <a:rPr lang="en-IN" smtClean="0"/>
              <a:t>‹#›</a:t>
            </a:fld>
            <a:endParaRPr lang="en-IN"/>
          </a:p>
        </p:txBody>
      </p:sp>
    </p:spTree>
    <p:extLst>
      <p:ext uri="{BB962C8B-B14F-4D97-AF65-F5344CB8AC3E}">
        <p14:creationId xmlns:p14="http://schemas.microsoft.com/office/powerpoint/2010/main" val="236916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73969F-F38C-4003-99B8-33DC03FFE885}" type="datetimeFigureOut">
              <a:rPr lang="en-IN" smtClean="0"/>
              <a:t>13-03-2026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1A0A93B-768D-4887-99D3-9B150310649D}" type="slidenum">
              <a:rPr lang="en-IN" smtClean="0"/>
              <a:t>‹#›</a:t>
            </a:fld>
            <a:endParaRPr lang="en-IN"/>
          </a:p>
        </p:txBody>
      </p:sp>
    </p:spTree>
    <p:extLst>
      <p:ext uri="{BB962C8B-B14F-4D97-AF65-F5344CB8AC3E}">
        <p14:creationId xmlns:p14="http://schemas.microsoft.com/office/powerpoint/2010/main" val="1104886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3969F-F38C-4003-99B8-33DC03FFE885}" type="datetimeFigureOut">
              <a:rPr lang="en-IN" smtClean="0"/>
              <a:t>13-03-2026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1A0A93B-768D-4887-99D3-9B150310649D}" type="slidenum">
              <a:rPr lang="en-IN" smtClean="0"/>
              <a:t>‹#›</a:t>
            </a:fld>
            <a:endParaRPr lang="en-IN"/>
          </a:p>
        </p:txBody>
      </p:sp>
    </p:spTree>
    <p:extLst>
      <p:ext uri="{BB962C8B-B14F-4D97-AF65-F5344CB8AC3E}">
        <p14:creationId xmlns:p14="http://schemas.microsoft.com/office/powerpoint/2010/main" val="1519052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73969F-F38C-4003-99B8-33DC03FFE885}" type="datetimeFigureOut">
              <a:rPr lang="en-IN" smtClean="0"/>
              <a:t>13-03-2026</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1A0A93B-768D-4887-99D3-9B150310649D}" type="slidenum">
              <a:rPr lang="en-IN" smtClean="0"/>
              <a:t>‹#›</a:t>
            </a:fld>
            <a:endParaRPr lang="en-IN"/>
          </a:p>
        </p:txBody>
      </p:sp>
    </p:spTree>
    <p:extLst>
      <p:ext uri="{BB962C8B-B14F-4D97-AF65-F5344CB8AC3E}">
        <p14:creationId xmlns:p14="http://schemas.microsoft.com/office/powerpoint/2010/main" val="994898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73969F-F38C-4003-99B8-33DC03FFE885}" type="datetimeFigureOut">
              <a:rPr lang="en-IN" smtClean="0"/>
              <a:t>13-03-2026</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1A0A93B-768D-4887-99D3-9B150310649D}" type="slidenum">
              <a:rPr lang="en-IN" smtClean="0"/>
              <a:t>‹#›</a:t>
            </a:fld>
            <a:endParaRPr lang="en-IN"/>
          </a:p>
        </p:txBody>
      </p:sp>
    </p:spTree>
    <p:extLst>
      <p:ext uri="{BB962C8B-B14F-4D97-AF65-F5344CB8AC3E}">
        <p14:creationId xmlns:p14="http://schemas.microsoft.com/office/powerpoint/2010/main" val="995057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73969F-F38C-4003-99B8-33DC03FFE885}"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A0A93B-768D-4887-99D3-9B150310649D}" type="slidenum">
              <a:rPr lang="en-IN" smtClean="0"/>
              <a:t>‹#›</a:t>
            </a:fld>
            <a:endParaRPr lang="en-IN"/>
          </a:p>
        </p:txBody>
      </p:sp>
    </p:spTree>
    <p:extLst>
      <p:ext uri="{BB962C8B-B14F-4D97-AF65-F5344CB8AC3E}">
        <p14:creationId xmlns:p14="http://schemas.microsoft.com/office/powerpoint/2010/main" val="745586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73969F-F38C-4003-99B8-33DC03FFE885}"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A0A93B-768D-4887-99D3-9B150310649D}" type="slidenum">
              <a:rPr lang="en-IN" smtClean="0"/>
              <a:t>‹#›</a:t>
            </a:fld>
            <a:endParaRPr lang="en-IN"/>
          </a:p>
        </p:txBody>
      </p:sp>
    </p:spTree>
    <p:extLst>
      <p:ext uri="{BB962C8B-B14F-4D97-AF65-F5344CB8AC3E}">
        <p14:creationId xmlns:p14="http://schemas.microsoft.com/office/powerpoint/2010/main" val="3512851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573969F-F38C-4003-99B8-33DC03FFE885}" type="datetimeFigureOut">
              <a:rPr lang="en-IN" smtClean="0"/>
              <a:t>13-03-2026</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1A0A93B-768D-4887-99D3-9B150310649D}" type="slidenum">
              <a:rPr lang="en-IN" smtClean="0"/>
              <a:t>‹#›</a:t>
            </a:fld>
            <a:endParaRPr lang="en-IN"/>
          </a:p>
        </p:txBody>
      </p:sp>
    </p:spTree>
    <p:extLst>
      <p:ext uri="{BB962C8B-B14F-4D97-AF65-F5344CB8AC3E}">
        <p14:creationId xmlns:p14="http://schemas.microsoft.com/office/powerpoint/2010/main" val="4238138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0000B-220B-C290-AFB5-F40012E6B1EE}"/>
              </a:ext>
            </a:extLst>
          </p:cNvPr>
          <p:cNvSpPr>
            <a:spLocks noGrp="1"/>
          </p:cNvSpPr>
          <p:nvPr>
            <p:ph type="ctrTitle"/>
          </p:nvPr>
        </p:nvSpPr>
        <p:spPr/>
        <p:txBody>
          <a:bodyPr/>
          <a:lstStyle/>
          <a:p>
            <a:r>
              <a:rPr lang="en-IN" sz="3800" dirty="0"/>
              <a:t>Ranking FTSE Companies by commitment to diversity</a:t>
            </a:r>
          </a:p>
        </p:txBody>
      </p:sp>
    </p:spTree>
    <p:extLst>
      <p:ext uri="{BB962C8B-B14F-4D97-AF65-F5344CB8AC3E}">
        <p14:creationId xmlns:p14="http://schemas.microsoft.com/office/powerpoint/2010/main" val="386154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188FC-C014-4689-5993-8FCABD1D85F3}"/>
              </a:ext>
            </a:extLst>
          </p:cNvPr>
          <p:cNvSpPr>
            <a:spLocks noGrp="1"/>
          </p:cNvSpPr>
          <p:nvPr>
            <p:ph type="title"/>
          </p:nvPr>
        </p:nvSpPr>
        <p:spPr/>
        <p:txBody>
          <a:bodyPr/>
          <a:lstStyle/>
          <a:p>
            <a:r>
              <a:rPr lang="en-IN" dirty="0">
                <a:solidFill>
                  <a:schemeClr val="tx1"/>
                </a:solidFill>
              </a:rPr>
              <a:t>FTSE-100 Diversity Indicators</a:t>
            </a:r>
          </a:p>
        </p:txBody>
      </p:sp>
      <p:sp>
        <p:nvSpPr>
          <p:cNvPr id="3" name="Content Placeholder 2">
            <a:extLst>
              <a:ext uri="{FF2B5EF4-FFF2-40B4-BE49-F238E27FC236}">
                <a16:creationId xmlns:a16="http://schemas.microsoft.com/office/drawing/2014/main" id="{A1B4793C-3057-BB10-CF53-C927C2C3B1CF}"/>
              </a:ext>
            </a:extLst>
          </p:cNvPr>
          <p:cNvSpPr>
            <a:spLocks noGrp="1"/>
          </p:cNvSpPr>
          <p:nvPr>
            <p:ph idx="1"/>
          </p:nvPr>
        </p:nvSpPr>
        <p:spPr/>
        <p:txBody>
          <a:bodyPr>
            <a:normAutofit lnSpcReduction="10000"/>
          </a:bodyPr>
          <a:lstStyle/>
          <a:p>
            <a:r>
              <a:rPr lang="en-IN" dirty="0"/>
              <a:t>100 Companies</a:t>
            </a:r>
          </a:p>
          <a:p>
            <a:r>
              <a:rPr lang="en-IN" dirty="0"/>
              <a:t>26 Diversity indicators</a:t>
            </a:r>
          </a:p>
          <a:p>
            <a:r>
              <a:rPr lang="en-US" dirty="0"/>
              <a:t>These indicators cover areas such as gender representation across employees, management and boards, pay equity measures like gender or ethnic pay gaps, diversity policies such as parental leave, and indicators related to reporting and disclosure.</a:t>
            </a:r>
          </a:p>
          <a:p>
            <a:r>
              <a:rPr lang="en-IN" dirty="0"/>
              <a:t>Examples include:</a:t>
            </a:r>
          </a:p>
          <a:p>
            <a:pPr marL="457200" indent="-457200">
              <a:buFont typeface="+mj-lt"/>
              <a:buAutoNum type="arabicPeriod"/>
            </a:pPr>
            <a:r>
              <a:rPr lang="en-IN" dirty="0"/>
              <a:t>Female representation in employees, management and boards</a:t>
            </a:r>
          </a:p>
          <a:p>
            <a:pPr marL="457200" indent="-457200">
              <a:buFont typeface="+mj-lt"/>
              <a:buAutoNum type="arabicPeriod"/>
            </a:pPr>
            <a:r>
              <a:rPr lang="en-IN" dirty="0"/>
              <a:t>Gender pay gap and bonus gap</a:t>
            </a:r>
          </a:p>
          <a:p>
            <a:pPr marL="457200" indent="-457200">
              <a:buFont typeface="+mj-lt"/>
              <a:buAutoNum type="arabicPeriod"/>
            </a:pPr>
            <a:r>
              <a:rPr lang="en-IN" dirty="0"/>
              <a:t>BAME, LGBT and disability representation</a:t>
            </a:r>
          </a:p>
          <a:p>
            <a:pPr marL="457200" indent="-457200">
              <a:buFont typeface="+mj-lt"/>
              <a:buAutoNum type="arabicPeriod"/>
            </a:pPr>
            <a:r>
              <a:rPr lang="en-IN" dirty="0"/>
              <a:t>Diversity reporting and policy indicators</a:t>
            </a:r>
          </a:p>
          <a:p>
            <a:pPr marL="0" indent="0">
              <a:buNone/>
            </a:pPr>
            <a:endParaRPr lang="en-IN" dirty="0"/>
          </a:p>
        </p:txBody>
      </p:sp>
    </p:spTree>
    <p:extLst>
      <p:ext uri="{BB962C8B-B14F-4D97-AF65-F5344CB8AC3E}">
        <p14:creationId xmlns:p14="http://schemas.microsoft.com/office/powerpoint/2010/main" val="519993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AEDCD-4C7E-6D3A-558B-3E458D7A9937}"/>
              </a:ext>
            </a:extLst>
          </p:cNvPr>
          <p:cNvSpPr>
            <a:spLocks noGrp="1"/>
          </p:cNvSpPr>
          <p:nvPr>
            <p:ph type="title"/>
          </p:nvPr>
        </p:nvSpPr>
        <p:spPr>
          <a:xfrm>
            <a:off x="1000665" y="399806"/>
            <a:ext cx="9874542" cy="285994"/>
          </a:xfrm>
        </p:spPr>
        <p:txBody>
          <a:bodyPr>
            <a:normAutofit fontScale="90000"/>
          </a:bodyPr>
          <a:lstStyle/>
          <a:p>
            <a:pPr algn="ctr"/>
            <a:r>
              <a:rPr lang="en-IN" sz="4800" dirty="0">
                <a:solidFill>
                  <a:schemeClr val="tx1"/>
                </a:solidFill>
              </a:rPr>
              <a:t>methodology</a:t>
            </a:r>
          </a:p>
        </p:txBody>
      </p:sp>
      <p:sp>
        <p:nvSpPr>
          <p:cNvPr id="3" name="Content Placeholder 2">
            <a:extLst>
              <a:ext uri="{FF2B5EF4-FFF2-40B4-BE49-F238E27FC236}">
                <a16:creationId xmlns:a16="http://schemas.microsoft.com/office/drawing/2014/main" id="{5356CA1C-A3C1-0D7C-4604-6EAE2A6A9D89}"/>
              </a:ext>
            </a:extLst>
          </p:cNvPr>
          <p:cNvSpPr>
            <a:spLocks noGrp="1"/>
          </p:cNvSpPr>
          <p:nvPr>
            <p:ph idx="1"/>
          </p:nvPr>
        </p:nvSpPr>
        <p:spPr>
          <a:xfrm>
            <a:off x="1000665" y="1045982"/>
            <a:ext cx="10058400" cy="5452584"/>
          </a:xfrm>
        </p:spPr>
        <p:txBody>
          <a:bodyPr>
            <a:normAutofit fontScale="85000" lnSpcReduction="20000"/>
          </a:bodyPr>
          <a:lstStyle/>
          <a:p>
            <a:pPr marL="457200" indent="-457200">
              <a:buFont typeface="+mj-lt"/>
              <a:buAutoNum type="arabicPeriod"/>
            </a:pPr>
            <a:r>
              <a:rPr lang="en-IN" b="1" dirty="0"/>
              <a:t>Data Preparation:</a:t>
            </a:r>
          </a:p>
          <a:p>
            <a:pPr marL="0" indent="0">
              <a:buNone/>
            </a:pPr>
            <a:r>
              <a:rPr lang="en-IN" dirty="0"/>
              <a:t>The dataset contained missing values where companies had not publicly disclosed certain indicators.</a:t>
            </a:r>
          </a:p>
          <a:p>
            <a:pPr marL="0" indent="0">
              <a:buNone/>
            </a:pPr>
            <a:r>
              <a:rPr lang="en-IN" dirty="0"/>
              <a:t>Missing values converted to </a:t>
            </a:r>
            <a:r>
              <a:rPr lang="en-IN" dirty="0" err="1"/>
              <a:t>NaN</a:t>
            </a:r>
            <a:endParaRPr lang="en-IN" dirty="0"/>
          </a:p>
          <a:p>
            <a:pPr marL="0" indent="0">
              <a:buNone/>
            </a:pPr>
            <a:r>
              <a:rPr lang="en-IN" dirty="0"/>
              <a:t>Indicator columns converted to numeric format</a:t>
            </a:r>
          </a:p>
          <a:p>
            <a:pPr marL="0" indent="0">
              <a:buNone/>
            </a:pPr>
            <a:r>
              <a:rPr lang="en-IN" dirty="0"/>
              <a:t>Missing Indicators treated as zero contribution– </a:t>
            </a:r>
            <a:r>
              <a:rPr lang="en-IN" b="1" dirty="0"/>
              <a:t>WHY</a:t>
            </a:r>
            <a:r>
              <a:rPr lang="en-IN" dirty="0"/>
              <a:t>? Because non-disclosure reflects lower transparency around diversity metrics, and penalises non-disclosure.</a:t>
            </a:r>
          </a:p>
          <a:p>
            <a:pPr marL="0" indent="0">
              <a:buNone/>
            </a:pPr>
            <a:r>
              <a:rPr lang="en-IN" dirty="0">
                <a:solidFill>
                  <a:srgbClr val="FF0000"/>
                </a:solidFill>
              </a:rPr>
              <a:t>Could there have been any other approach? </a:t>
            </a:r>
            <a:r>
              <a:rPr lang="en-IN" dirty="0"/>
              <a:t>Yes, </a:t>
            </a:r>
            <a:r>
              <a:rPr lang="en-US" dirty="0"/>
              <a:t>There are several ways to handle missing values, including:</a:t>
            </a:r>
          </a:p>
          <a:p>
            <a:r>
              <a:rPr lang="en-US" dirty="0"/>
              <a:t>excluding missing indicators from the average (but they make companies reporting fewer indicator look artificially better)</a:t>
            </a:r>
          </a:p>
          <a:p>
            <a:r>
              <a:rPr lang="en-US" dirty="0"/>
              <a:t>imputing values using statistical estimates (but this could introduce assumptions and may distort rankings- this is more common in predictive modeling, not index construction)</a:t>
            </a:r>
          </a:p>
          <a:p>
            <a:r>
              <a:rPr lang="en-US" dirty="0"/>
              <a:t>separating disclosure into its own score (a separate disclosure score would have been interesting, but the dataset already includes indicators that capture reporting </a:t>
            </a:r>
            <a:r>
              <a:rPr lang="en-US" dirty="0" err="1"/>
              <a:t>behaviour</a:t>
            </a:r>
            <a:r>
              <a:rPr lang="en-US" dirty="0"/>
              <a:t>, like BAME pay gap reporting, LGBT pay gap reporting, and disability pay gap reporting. So disclosure is already part of the dataset. Because of that, the indicators were included directly in the diversity score instead of building a separate disclosure score. Adding another disclosure score would also require deciding how much weight it should have, which would introduce additional assumptions.)</a:t>
            </a:r>
          </a:p>
          <a:p>
            <a:endParaRPr lang="en-IN" dirty="0"/>
          </a:p>
          <a:p>
            <a:pPr marL="0" indent="0">
              <a:buNone/>
            </a:pPr>
            <a:endParaRPr lang="en-IN" dirty="0"/>
          </a:p>
        </p:txBody>
      </p:sp>
    </p:spTree>
    <p:extLst>
      <p:ext uri="{BB962C8B-B14F-4D97-AF65-F5344CB8AC3E}">
        <p14:creationId xmlns:p14="http://schemas.microsoft.com/office/powerpoint/2010/main" val="1530447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243D-5D5B-C94B-B4CB-0FB4E31DE09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1AE57D-595F-5008-AE98-8C84AEB17C90}"/>
              </a:ext>
            </a:extLst>
          </p:cNvPr>
          <p:cNvSpPr>
            <a:spLocks noGrp="1"/>
          </p:cNvSpPr>
          <p:nvPr>
            <p:ph idx="1"/>
          </p:nvPr>
        </p:nvSpPr>
        <p:spPr/>
        <p:txBody>
          <a:bodyPr>
            <a:normAutofit fontScale="92500" lnSpcReduction="20000"/>
          </a:bodyPr>
          <a:lstStyle/>
          <a:p>
            <a:pPr marL="0" indent="0">
              <a:buNone/>
            </a:pPr>
            <a:r>
              <a:rPr lang="en-IN" b="1" dirty="0"/>
              <a:t>2. Normalising Indicators:</a:t>
            </a:r>
          </a:p>
          <a:p>
            <a:pPr marL="0" indent="0">
              <a:buNone/>
            </a:pPr>
            <a:r>
              <a:rPr lang="en-IN" dirty="0"/>
              <a:t>Indicators are measured in different units:</a:t>
            </a:r>
          </a:p>
          <a:p>
            <a:r>
              <a:rPr lang="en-IN" dirty="0"/>
              <a:t>Percentages</a:t>
            </a:r>
          </a:p>
          <a:p>
            <a:r>
              <a:rPr lang="en-IN" dirty="0"/>
              <a:t>Weeks of parental leave</a:t>
            </a:r>
          </a:p>
          <a:p>
            <a:r>
              <a:rPr lang="en-IN" dirty="0"/>
              <a:t>Binary Indicators</a:t>
            </a:r>
          </a:p>
          <a:p>
            <a:pPr marL="0" indent="0">
              <a:buNone/>
            </a:pPr>
            <a:r>
              <a:rPr lang="en-IN" dirty="0"/>
              <a:t>To make them comparable, all indicators were scaled between 0 and 1:</a:t>
            </a:r>
            <a:r>
              <a:rPr lang="en-IN" b="1" dirty="0"/>
              <a:t> Min- Max Normalisation </a:t>
            </a:r>
          </a:p>
          <a:p>
            <a:pPr marL="0" indent="0">
              <a:buNone/>
            </a:pPr>
            <a:r>
              <a:rPr lang="en-US" dirty="0">
                <a:solidFill>
                  <a:srgbClr val="FF0000"/>
                </a:solidFill>
              </a:rPr>
              <a:t>Just to illustrate, if female management representation ranges from 10% to 50% across companies, a company with 30% representation would be rescaled to roughly 0.5 after </a:t>
            </a:r>
            <a:r>
              <a:rPr lang="en-US" dirty="0" err="1">
                <a:solidFill>
                  <a:srgbClr val="FF0000"/>
                </a:solidFill>
              </a:rPr>
              <a:t>normalisation</a:t>
            </a:r>
            <a:r>
              <a:rPr lang="en-US" dirty="0">
                <a:solidFill>
                  <a:srgbClr val="FF0000"/>
                </a:solidFill>
              </a:rPr>
              <a:t>.</a:t>
            </a:r>
            <a:endParaRPr lang="en-IN" b="1" dirty="0">
              <a:solidFill>
                <a:srgbClr val="FF0000"/>
              </a:solidFill>
            </a:endParaRPr>
          </a:p>
          <a:p>
            <a:pPr marL="0" indent="0">
              <a:buNone/>
            </a:pPr>
            <a:r>
              <a:rPr lang="en-IN" dirty="0"/>
              <a:t>[</a:t>
            </a:r>
            <a:r>
              <a:rPr lang="en-US" dirty="0"/>
              <a:t>Z-score normalization standardizes variables relative to their mean and standard deviation, which is useful for statistical modelling, but it produces values that can be negative or unbounded. For an index designed to rank companies and communicate results clearly, a bounded 0–1 scale is more interpretable.]</a:t>
            </a:r>
            <a:endParaRPr lang="en-IN" dirty="0"/>
          </a:p>
          <a:p>
            <a:pPr marL="0" indent="0">
              <a:buNone/>
            </a:pPr>
            <a:endParaRPr lang="en-IN" dirty="0"/>
          </a:p>
        </p:txBody>
      </p:sp>
    </p:spTree>
    <p:extLst>
      <p:ext uri="{BB962C8B-B14F-4D97-AF65-F5344CB8AC3E}">
        <p14:creationId xmlns:p14="http://schemas.microsoft.com/office/powerpoint/2010/main" val="241552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DCAB69-EA15-FCC6-6BAF-4214AC12E491}"/>
                  </a:ext>
                </a:extLst>
              </p:cNvPr>
              <p:cNvSpPr>
                <a:spLocks noGrp="1"/>
              </p:cNvSpPr>
              <p:nvPr>
                <p:ph idx="1"/>
              </p:nvPr>
            </p:nvSpPr>
            <p:spPr>
              <a:xfrm>
                <a:off x="1069848" y="609601"/>
                <a:ext cx="10058400" cy="5589916"/>
              </a:xfrm>
            </p:spPr>
            <p:txBody>
              <a:bodyPr>
                <a:normAutofit fontScale="92500" lnSpcReduction="10000"/>
              </a:bodyPr>
              <a:lstStyle/>
              <a:p>
                <a:r>
                  <a:rPr lang="en-IN" sz="2200" b="1" dirty="0"/>
                  <a:t>What each term means :</a:t>
                </a:r>
              </a:p>
              <a:p>
                <a14:m>
                  <m:oMath xmlns:m="http://schemas.openxmlformats.org/officeDocument/2006/math">
                    <m:r>
                      <a:rPr lang="en-IN" sz="2200" i="1">
                        <a:latin typeface="Cambria Math" panose="02040503050406030204" pitchFamily="18" charset="0"/>
                      </a:rPr>
                      <m:t>𝑥</m:t>
                    </m:r>
                  </m:oMath>
                </a14:m>
                <a:r>
                  <a:rPr lang="en-IN" sz="2200" dirty="0"/>
                  <a:t>= the original value of the indicator</a:t>
                </a:r>
              </a:p>
              <a:p>
                <a14:m>
                  <m:oMath xmlns:m="http://schemas.openxmlformats.org/officeDocument/2006/math">
                    <m:r>
                      <m:rPr>
                        <m:sty m:val="p"/>
                      </m:rPr>
                      <a:rPr lang="en-IN" sz="2200">
                        <a:latin typeface="Cambria Math" panose="02040503050406030204" pitchFamily="18" charset="0"/>
                      </a:rPr>
                      <m:t>min</m:t>
                    </m:r>
                    <m:r>
                      <a:rPr lang="en-IN" sz="2200">
                        <a:latin typeface="Cambria Math" panose="02040503050406030204" pitchFamily="18" charset="0"/>
                      </a:rPr>
                      <m:t>⁡</m:t>
                    </m:r>
                    <m:d>
                      <m:dPr>
                        <m:ctrlPr>
                          <a:rPr lang="ar-AE" sz="2200" i="1">
                            <a:latin typeface="Cambria Math" panose="02040503050406030204" pitchFamily="18" charset="0"/>
                          </a:rPr>
                        </m:ctrlPr>
                      </m:dPr>
                      <m:e>
                        <m:r>
                          <a:rPr lang="ar-AE" sz="2200" i="1">
                            <a:latin typeface="Cambria Math" panose="02040503050406030204" pitchFamily="18" charset="0"/>
                          </a:rPr>
                          <m:t>𝑥</m:t>
                        </m:r>
                      </m:e>
                    </m:d>
                  </m:oMath>
                </a14:m>
                <a:r>
                  <a:rPr lang="ar-AE" sz="2200" dirty="0"/>
                  <a:t>= </a:t>
                </a:r>
                <a:r>
                  <a:rPr lang="en-IN" sz="2200" dirty="0"/>
                  <a:t>the smallest value of that indicator in the dataset</a:t>
                </a:r>
              </a:p>
              <a:p>
                <a14:m>
                  <m:oMath xmlns:m="http://schemas.openxmlformats.org/officeDocument/2006/math">
                    <m:r>
                      <m:rPr>
                        <m:sty m:val="p"/>
                      </m:rPr>
                      <a:rPr lang="en-IN" sz="2200">
                        <a:latin typeface="Cambria Math" panose="02040503050406030204" pitchFamily="18" charset="0"/>
                      </a:rPr>
                      <m:t>max</m:t>
                    </m:r>
                    <m:r>
                      <a:rPr lang="en-IN" sz="2200">
                        <a:latin typeface="Cambria Math" panose="02040503050406030204" pitchFamily="18" charset="0"/>
                      </a:rPr>
                      <m:t>⁡</m:t>
                    </m:r>
                    <m:d>
                      <m:dPr>
                        <m:ctrlPr>
                          <a:rPr lang="ar-AE" sz="2200" i="1">
                            <a:latin typeface="Cambria Math" panose="02040503050406030204" pitchFamily="18" charset="0"/>
                          </a:rPr>
                        </m:ctrlPr>
                      </m:dPr>
                      <m:e>
                        <m:r>
                          <a:rPr lang="ar-AE" sz="2200" i="1">
                            <a:latin typeface="Cambria Math" panose="02040503050406030204" pitchFamily="18" charset="0"/>
                          </a:rPr>
                          <m:t>𝑥</m:t>
                        </m:r>
                      </m:e>
                    </m:d>
                  </m:oMath>
                </a14:m>
                <a:r>
                  <a:rPr lang="ar-AE" sz="2200" dirty="0"/>
                  <a:t>= </a:t>
                </a:r>
                <a:r>
                  <a:rPr lang="en-IN" sz="2200" dirty="0"/>
                  <a:t>the largest value of that indicator in the dataset</a:t>
                </a:r>
              </a:p>
              <a:p>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𝑥</m:t>
                        </m:r>
                      </m:e>
                      <m:sub>
                        <m:r>
                          <a:rPr lang="ar-AE" sz="2200" i="1">
                            <a:latin typeface="Cambria Math" panose="02040503050406030204" pitchFamily="18" charset="0"/>
                          </a:rPr>
                          <m:t>𝑠𝑐𝑎𝑙𝑒𝑑</m:t>
                        </m:r>
                      </m:sub>
                    </m:sSub>
                  </m:oMath>
                </a14:m>
                <a:r>
                  <a:rPr lang="ar-AE" sz="2200" dirty="0"/>
                  <a:t>= </a:t>
                </a:r>
                <a:r>
                  <a:rPr lang="en-IN" sz="2200" dirty="0"/>
                  <a:t>the normalized value between </a:t>
                </a:r>
                <a:r>
                  <a:rPr lang="en-IN" sz="2200" b="1" dirty="0"/>
                  <a:t>0 and 1</a:t>
                </a:r>
                <a:endParaRPr lang="en-IN" sz="2200" dirty="0"/>
              </a:p>
              <a:p>
                <a:r>
                  <a:rPr lang="en-IN" sz="2200" b="1" dirty="0"/>
                  <a:t>What the formula does</a:t>
                </a:r>
              </a:p>
              <a:p>
                <a:r>
                  <a:rPr lang="en-IN" sz="2200" dirty="0"/>
                  <a:t>It rescales every indicator so that:</a:t>
                </a:r>
              </a:p>
              <a:p>
                <a:r>
                  <a:rPr lang="en-IN" sz="2200" dirty="0"/>
                  <a:t>lowest value → 0</a:t>
                </a:r>
                <a:br>
                  <a:rPr lang="en-IN" sz="2200" dirty="0"/>
                </a:br>
                <a:r>
                  <a:rPr lang="en-IN" sz="2200" dirty="0"/>
                  <a:t>highest value → 1</a:t>
                </a:r>
                <a:br>
                  <a:rPr lang="en-IN" sz="2200" dirty="0"/>
                </a:br>
                <a:r>
                  <a:rPr lang="en-IN" sz="2200" dirty="0"/>
                  <a:t>all other values → between 0 and 1</a:t>
                </a:r>
              </a:p>
              <a:p>
                <a:pPr marL="0" indent="0">
                  <a:buNone/>
                </a:pPr>
                <a:r>
                  <a:rPr lang="en-IN" sz="2200" dirty="0"/>
                  <a:t>For example, If a gender pay gap indicator ranges from </a:t>
                </a:r>
                <a:r>
                  <a:rPr lang="en-IN" sz="2200" b="1" dirty="0"/>
                  <a:t>5% to 30%</a:t>
                </a:r>
                <a:r>
                  <a:rPr lang="en-IN" sz="2200" dirty="0"/>
                  <a:t>:</a:t>
                </a:r>
              </a:p>
              <a:p>
                <a:r>
                  <a:rPr lang="en-IN" sz="2200" dirty="0"/>
                  <a:t>Company value = </a:t>
                </a:r>
                <a:r>
                  <a:rPr lang="en-IN" sz="2200" b="1" dirty="0"/>
                  <a:t>15% </a:t>
                </a:r>
                <a:r>
                  <a:rPr lang="en-IN" sz="2200" dirty="0"/>
                  <a:t>(i.e., t</a:t>
                </a:r>
                <a:r>
                  <a:rPr lang="en-US" sz="2200" b="1" dirty="0"/>
                  <a:t>he number in the dataset for the company before </a:t>
                </a:r>
                <a:r>
                  <a:rPr lang="en-US" sz="2200" b="1" dirty="0" err="1"/>
                  <a:t>normalisation</a:t>
                </a:r>
                <a:r>
                  <a:rPr lang="en-US" sz="2200" dirty="0"/>
                  <a:t>.)</a:t>
                </a:r>
                <a:endParaRPr lang="en-IN" sz="2200" dirty="0"/>
              </a:p>
              <a:p>
                <a:r>
                  <a:rPr lang="en-IN" sz="2200" dirty="0"/>
                  <a:t>(15 - 5) / (30 - 5) = 10 / 25 = 0.40</a:t>
                </a:r>
              </a:p>
              <a:p>
                <a:r>
                  <a:rPr lang="en-IN" sz="2200" dirty="0"/>
                  <a:t>So the normalised score becomes </a:t>
                </a:r>
                <a:r>
                  <a:rPr lang="en-IN" sz="2200" b="1" dirty="0"/>
                  <a:t>0.40</a:t>
                </a:r>
                <a:r>
                  <a:rPr lang="en-IN" sz="2200" dirty="0"/>
                  <a:t>.</a:t>
                </a:r>
              </a:p>
              <a:p>
                <a:endParaRPr lang="en-IN" dirty="0"/>
              </a:p>
            </p:txBody>
          </p:sp>
        </mc:Choice>
        <mc:Fallback xmlns="">
          <p:sp>
            <p:nvSpPr>
              <p:cNvPr id="3" name="Content Placeholder 2">
                <a:extLst>
                  <a:ext uri="{FF2B5EF4-FFF2-40B4-BE49-F238E27FC236}">
                    <a16:creationId xmlns:a16="http://schemas.microsoft.com/office/drawing/2014/main" id="{61DCAB69-EA15-FCC6-6BAF-4214AC12E491}"/>
                  </a:ext>
                </a:extLst>
              </p:cNvPr>
              <p:cNvSpPr>
                <a:spLocks noGrp="1" noRot="1" noChangeAspect="1" noMove="1" noResize="1" noEditPoints="1" noAdjustHandles="1" noChangeArrowheads="1" noChangeShapeType="1" noTextEdit="1"/>
              </p:cNvSpPr>
              <p:nvPr>
                <p:ph idx="1"/>
              </p:nvPr>
            </p:nvSpPr>
            <p:spPr>
              <a:xfrm>
                <a:off x="1069848" y="609601"/>
                <a:ext cx="10058400" cy="5589916"/>
              </a:xfrm>
              <a:blipFill>
                <a:blip r:embed="rId2"/>
                <a:stretch>
                  <a:fillRect l="-667" t="-1636"/>
                </a:stretch>
              </a:blipFill>
            </p:spPr>
            <p:txBody>
              <a:bodyPr/>
              <a:lstStyle/>
              <a:p>
                <a:r>
                  <a:rPr lang="en-IN">
                    <a:noFill/>
                  </a:rPr>
                  <a:t> </a:t>
                </a:r>
              </a:p>
            </p:txBody>
          </p:sp>
        </mc:Fallback>
      </mc:AlternateContent>
    </p:spTree>
    <p:extLst>
      <p:ext uri="{BB962C8B-B14F-4D97-AF65-F5344CB8AC3E}">
        <p14:creationId xmlns:p14="http://schemas.microsoft.com/office/powerpoint/2010/main" val="3944797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1A5E1-BFEB-8692-CF3D-8EA3C1CCDA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96EFB19-1844-C38F-48D9-F56485D750BC}"/>
              </a:ext>
            </a:extLst>
          </p:cNvPr>
          <p:cNvSpPr>
            <a:spLocks noGrp="1"/>
          </p:cNvSpPr>
          <p:nvPr>
            <p:ph idx="1"/>
          </p:nvPr>
        </p:nvSpPr>
        <p:spPr/>
        <p:txBody>
          <a:bodyPr/>
          <a:lstStyle/>
          <a:p>
            <a:pPr marL="0" indent="0">
              <a:buNone/>
            </a:pPr>
            <a:r>
              <a:rPr lang="en-IN" b="1" dirty="0"/>
              <a:t>3. Reversal in Indicators direction:</a:t>
            </a:r>
          </a:p>
          <a:p>
            <a:pPr marL="0" indent="0">
              <a:buNone/>
            </a:pPr>
            <a:r>
              <a:rPr lang="en-IN" dirty="0"/>
              <a:t>Some indicators present better outcomes when values are lower, such as:</a:t>
            </a:r>
          </a:p>
          <a:p>
            <a:r>
              <a:rPr lang="en-IN" dirty="0"/>
              <a:t>Gender pay gap</a:t>
            </a:r>
          </a:p>
          <a:p>
            <a:r>
              <a:rPr lang="en-IN" dirty="0"/>
              <a:t>BAME pay gap</a:t>
            </a:r>
          </a:p>
          <a:p>
            <a:r>
              <a:rPr lang="en-IN" dirty="0"/>
              <a:t>LGBT pay gap</a:t>
            </a:r>
          </a:p>
          <a:p>
            <a:r>
              <a:rPr lang="en-IN" dirty="0"/>
              <a:t>Disability pay gap</a:t>
            </a:r>
          </a:p>
          <a:p>
            <a:pPr marL="0" indent="0">
              <a:buNone/>
            </a:pPr>
            <a:r>
              <a:rPr lang="en-IN" dirty="0"/>
              <a:t>These were reversed so that higher values consistently represent stronger diversity performance. </a:t>
            </a:r>
          </a:p>
        </p:txBody>
      </p:sp>
    </p:spTree>
    <p:extLst>
      <p:ext uri="{BB962C8B-B14F-4D97-AF65-F5344CB8AC3E}">
        <p14:creationId xmlns:p14="http://schemas.microsoft.com/office/powerpoint/2010/main" val="3037650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4CEE8-1340-0FCB-8AC1-EDE35A7172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A32190-933A-8660-6FED-A8C2A63C9573}"/>
              </a:ext>
            </a:extLst>
          </p:cNvPr>
          <p:cNvSpPr>
            <a:spLocks noGrp="1"/>
          </p:cNvSpPr>
          <p:nvPr>
            <p:ph idx="1"/>
          </p:nvPr>
        </p:nvSpPr>
        <p:spPr/>
        <p:txBody>
          <a:bodyPr/>
          <a:lstStyle/>
          <a:p>
            <a:pPr marL="0" indent="0">
              <a:buNone/>
            </a:pPr>
            <a:r>
              <a:rPr lang="en-US" b="1" dirty="0"/>
              <a:t>4. Constructing the Diversity Score</a:t>
            </a:r>
          </a:p>
          <a:p>
            <a:pPr marL="0" indent="0">
              <a:buNone/>
            </a:pPr>
            <a:r>
              <a:rPr lang="en-US" dirty="0"/>
              <a:t>All normalized indicators were combined using the mean.</a:t>
            </a:r>
          </a:p>
          <a:p>
            <a:pPr marL="0" indent="0">
              <a:buNone/>
            </a:pPr>
            <a:r>
              <a:rPr lang="en-US" dirty="0"/>
              <a:t>Because the dataset does not specify a weighting scheme for the indicators, equal weighting was used to keep the methodology transparent and avoid introducing subjective assumptions.</a:t>
            </a:r>
          </a:p>
          <a:p>
            <a:endParaRPr lang="en-IN" dirty="0"/>
          </a:p>
        </p:txBody>
      </p:sp>
    </p:spTree>
    <p:extLst>
      <p:ext uri="{BB962C8B-B14F-4D97-AF65-F5344CB8AC3E}">
        <p14:creationId xmlns:p14="http://schemas.microsoft.com/office/powerpoint/2010/main" val="3112115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320A39E-BCB2-3425-6F68-39FC7EBA4C8A}"/>
              </a:ext>
            </a:extLst>
          </p:cNvPr>
          <p:cNvPicPr>
            <a:picLocks noGrp="1" noChangeAspect="1"/>
          </p:cNvPicPr>
          <p:nvPr>
            <p:ph idx="1"/>
          </p:nvPr>
        </p:nvPicPr>
        <p:blipFill>
          <a:blip r:embed="rId2"/>
          <a:stretch>
            <a:fillRect/>
          </a:stretch>
        </p:blipFill>
        <p:spPr>
          <a:xfrm>
            <a:off x="184030" y="1293962"/>
            <a:ext cx="4894052" cy="4014159"/>
          </a:xfrm>
          <a:prstGeom prst="rect">
            <a:avLst/>
          </a:prstGeom>
        </p:spPr>
      </p:pic>
      <p:pic>
        <p:nvPicPr>
          <p:cNvPr id="4" name="Picture 3">
            <a:extLst>
              <a:ext uri="{FF2B5EF4-FFF2-40B4-BE49-F238E27FC236}">
                <a16:creationId xmlns:a16="http://schemas.microsoft.com/office/drawing/2014/main" id="{41F2DDA3-FED0-0F6C-240A-BE38A0C18B2B}"/>
              </a:ext>
            </a:extLst>
          </p:cNvPr>
          <p:cNvPicPr>
            <a:picLocks noChangeAspect="1"/>
          </p:cNvPicPr>
          <p:nvPr/>
        </p:nvPicPr>
        <p:blipFill>
          <a:blip r:embed="rId3"/>
          <a:stretch>
            <a:fillRect/>
          </a:stretch>
        </p:blipFill>
        <p:spPr>
          <a:xfrm>
            <a:off x="5957642" y="1164985"/>
            <a:ext cx="5314208" cy="4289665"/>
          </a:xfrm>
          <a:prstGeom prst="rect">
            <a:avLst/>
          </a:prstGeom>
        </p:spPr>
      </p:pic>
      <p:sp>
        <p:nvSpPr>
          <p:cNvPr id="9" name="Rectangle 3">
            <a:extLst>
              <a:ext uri="{FF2B5EF4-FFF2-40B4-BE49-F238E27FC236}">
                <a16:creationId xmlns:a16="http://schemas.microsoft.com/office/drawing/2014/main" id="{C6F40781-A216-819C-E119-1A42D4430FF5}"/>
              </a:ext>
            </a:extLst>
          </p:cNvPr>
          <p:cNvSpPr>
            <a:spLocks noChangeArrowheads="1"/>
          </p:cNvSpPr>
          <p:nvPr/>
        </p:nvSpPr>
        <p:spPr bwMode="auto">
          <a:xfrm>
            <a:off x="184030" y="5604927"/>
            <a:ext cx="563017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Diversity scores range from ~0.22 to ~0.49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Most firms cluster around moderate scores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A small group performs consistently well across indicators</a:t>
            </a:r>
          </a:p>
        </p:txBody>
      </p:sp>
      <p:sp>
        <p:nvSpPr>
          <p:cNvPr id="13" name="Rectangle 6">
            <a:extLst>
              <a:ext uri="{FF2B5EF4-FFF2-40B4-BE49-F238E27FC236}">
                <a16:creationId xmlns:a16="http://schemas.microsoft.com/office/drawing/2014/main" id="{CEC32FEA-C910-8902-3604-623577262E23}"/>
              </a:ext>
            </a:extLst>
          </p:cNvPr>
          <p:cNvSpPr>
            <a:spLocks noChangeArrowheads="1"/>
          </p:cNvSpPr>
          <p:nvPr/>
        </p:nvSpPr>
        <p:spPr bwMode="auto">
          <a:xfrm rot="10800000" flipV="1">
            <a:off x="5814203" y="5604927"/>
            <a:ext cx="591197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rPr>
              <a:t>Several companies score significantly lower, often reflecting limited diversity disclosure or weaker representation indicators</a:t>
            </a:r>
          </a:p>
        </p:txBody>
      </p:sp>
      <p:sp>
        <p:nvSpPr>
          <p:cNvPr id="14" name="TextBox 13">
            <a:extLst>
              <a:ext uri="{FF2B5EF4-FFF2-40B4-BE49-F238E27FC236}">
                <a16:creationId xmlns:a16="http://schemas.microsoft.com/office/drawing/2014/main" id="{7C5D0D5A-C0B9-3910-97CB-2EEBAF3C3E42}"/>
              </a:ext>
            </a:extLst>
          </p:cNvPr>
          <p:cNvSpPr txBox="1"/>
          <p:nvPr/>
        </p:nvSpPr>
        <p:spPr>
          <a:xfrm>
            <a:off x="3082505" y="339739"/>
            <a:ext cx="5175849" cy="830997"/>
          </a:xfrm>
          <a:prstGeom prst="rect">
            <a:avLst/>
          </a:prstGeom>
          <a:noFill/>
        </p:spPr>
        <p:txBody>
          <a:bodyPr wrap="square" rtlCol="0">
            <a:spAutoFit/>
          </a:bodyPr>
          <a:lstStyle/>
          <a:p>
            <a:pPr algn="ctr"/>
            <a:r>
              <a:rPr lang="en-US" sz="4800" b="1" dirty="0">
                <a:latin typeface="+mj-lt"/>
              </a:rPr>
              <a:t>RESULTS</a:t>
            </a:r>
            <a:endParaRPr lang="en-IN" sz="4800" b="1" dirty="0">
              <a:latin typeface="+mj-lt"/>
            </a:endParaRPr>
          </a:p>
        </p:txBody>
      </p:sp>
    </p:spTree>
    <p:extLst>
      <p:ext uri="{BB962C8B-B14F-4D97-AF65-F5344CB8AC3E}">
        <p14:creationId xmlns:p14="http://schemas.microsoft.com/office/powerpoint/2010/main" val="3867961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1ED9E-D60C-49F1-3C49-E56DDE3CEDE3}"/>
              </a:ext>
            </a:extLst>
          </p:cNvPr>
          <p:cNvSpPr>
            <a:spLocks noGrp="1"/>
          </p:cNvSpPr>
          <p:nvPr>
            <p:ph type="title"/>
          </p:nvPr>
        </p:nvSpPr>
        <p:spPr/>
        <p:txBody>
          <a:bodyPr/>
          <a:lstStyle/>
          <a:p>
            <a:r>
              <a:rPr lang="en-US" b="1" dirty="0">
                <a:solidFill>
                  <a:schemeClr val="tx1"/>
                </a:solidFill>
              </a:rPr>
              <a:t>Limitations &amp; Improvements</a:t>
            </a:r>
            <a:endParaRPr lang="en-IN" dirty="0">
              <a:solidFill>
                <a:schemeClr val="tx1"/>
              </a:solidFill>
            </a:endParaRPr>
          </a:p>
        </p:txBody>
      </p:sp>
      <p:sp>
        <p:nvSpPr>
          <p:cNvPr id="3" name="Content Placeholder 2">
            <a:extLst>
              <a:ext uri="{FF2B5EF4-FFF2-40B4-BE49-F238E27FC236}">
                <a16:creationId xmlns:a16="http://schemas.microsoft.com/office/drawing/2014/main" id="{F72424CE-31AF-BBBB-D4F1-E29990283FC8}"/>
              </a:ext>
            </a:extLst>
          </p:cNvPr>
          <p:cNvSpPr>
            <a:spLocks noGrp="1"/>
          </p:cNvSpPr>
          <p:nvPr>
            <p:ph idx="1"/>
          </p:nvPr>
        </p:nvSpPr>
        <p:spPr/>
        <p:txBody>
          <a:bodyPr>
            <a:normAutofit/>
          </a:bodyPr>
          <a:lstStyle/>
          <a:p>
            <a:pPr marL="0" indent="0">
              <a:buNone/>
            </a:pPr>
            <a:r>
              <a:rPr lang="en-US" b="1" dirty="0"/>
              <a:t>Limitations</a:t>
            </a:r>
            <a:endParaRPr lang="en-US" dirty="0"/>
          </a:p>
          <a:p>
            <a:r>
              <a:rPr lang="en-US" dirty="0"/>
              <a:t>Equal weighting assumption- the index assumes equal importance across indicators.</a:t>
            </a:r>
          </a:p>
          <a:p>
            <a:r>
              <a:rPr lang="en-US" dirty="0"/>
              <a:t>Missing indicators were treated as zero contribution during scoring so that non-disclosure doesn’t positively affect the diversity score. </a:t>
            </a:r>
          </a:p>
          <a:p>
            <a:r>
              <a:rPr lang="en-US" dirty="0"/>
              <a:t>Some indicators measure related dimensions of diversity, and can introduce overlap in the composite score.</a:t>
            </a:r>
          </a:p>
          <a:p>
            <a:r>
              <a:rPr lang="en-US" dirty="0"/>
              <a:t>Some indicators disclose certain diversity indicators, but not others which can affect comparability across firms. </a:t>
            </a:r>
          </a:p>
          <a:p>
            <a:endParaRPr lang="en-IN" dirty="0"/>
          </a:p>
        </p:txBody>
      </p:sp>
    </p:spTree>
    <p:extLst>
      <p:ext uri="{BB962C8B-B14F-4D97-AF65-F5344CB8AC3E}">
        <p14:creationId xmlns:p14="http://schemas.microsoft.com/office/powerpoint/2010/main" val="2144011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FE6A-98C0-40DD-E8A9-474B1EA8FA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00DE444-A4F0-2B6C-C9B0-A43C54E96631}"/>
              </a:ext>
            </a:extLst>
          </p:cNvPr>
          <p:cNvSpPr>
            <a:spLocks noGrp="1"/>
          </p:cNvSpPr>
          <p:nvPr>
            <p:ph idx="1"/>
          </p:nvPr>
        </p:nvSpPr>
        <p:spPr/>
        <p:txBody>
          <a:bodyPr/>
          <a:lstStyle/>
          <a:p>
            <a:pPr marL="0" indent="0">
              <a:buNone/>
            </a:pPr>
            <a:r>
              <a:rPr lang="en-IN" b="1" dirty="0"/>
              <a:t>Improvements:</a:t>
            </a:r>
          </a:p>
          <a:p>
            <a:pPr marL="0" indent="0">
              <a:buNone/>
            </a:pPr>
            <a:r>
              <a:rPr lang="en-IN" dirty="0"/>
              <a:t>1️⃣ Indicator weighting: Could be grouped into broader dimensions such as representation, pay gaps, policy commitments, and disclosure, with weights assigned to reflect the relative importance.</a:t>
            </a:r>
          </a:p>
          <a:p>
            <a:pPr marL="0" indent="0">
              <a:buNone/>
            </a:pPr>
            <a:r>
              <a:rPr lang="en-IN" dirty="0"/>
              <a:t>2️⃣ Separate Disclosure scoring: </a:t>
            </a:r>
            <a:r>
              <a:rPr lang="en-US" dirty="0"/>
              <a:t>The future work can try to distinguish between companies that report the value of zero, and those that do not disclose the indicator. </a:t>
            </a:r>
            <a:endParaRPr lang="en-IN" dirty="0"/>
          </a:p>
          <a:p>
            <a:pPr marL="0" indent="0">
              <a:buNone/>
            </a:pPr>
            <a:r>
              <a:rPr lang="en-IN" dirty="0"/>
              <a:t>3️⃣ Sensitivity analysis: Can test how rankings change under different </a:t>
            </a:r>
            <a:r>
              <a:rPr lang="en-IN" dirty="0" err="1"/>
              <a:t>weightinh</a:t>
            </a:r>
            <a:r>
              <a:rPr lang="en-IN" dirty="0"/>
              <a:t> schemes or missing data treatments.</a:t>
            </a:r>
          </a:p>
          <a:p>
            <a:pPr marL="0" indent="0">
              <a:buNone/>
            </a:pPr>
            <a:r>
              <a:rPr lang="en-IN" dirty="0"/>
              <a:t>4️⃣ Sub-index scores: Creating sub-scores for dimensions can make it </a:t>
            </a:r>
            <a:r>
              <a:rPr lang="en-IN"/>
              <a:t>more interpretable. </a:t>
            </a:r>
            <a:endParaRPr lang="en-IN" b="1" dirty="0"/>
          </a:p>
          <a:p>
            <a:pPr marL="0" indent="0">
              <a:buNone/>
            </a:pPr>
            <a:endParaRPr lang="en-IN" dirty="0"/>
          </a:p>
        </p:txBody>
      </p:sp>
    </p:spTree>
    <p:extLst>
      <p:ext uri="{BB962C8B-B14F-4D97-AF65-F5344CB8AC3E}">
        <p14:creationId xmlns:p14="http://schemas.microsoft.com/office/powerpoint/2010/main" val="40245100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2027</TotalTime>
  <Words>845</Words>
  <Application>Microsoft Office PowerPoint</Application>
  <PresentationFormat>Widescreen</PresentationFormat>
  <Paragraphs>66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Cambria Math</vt:lpstr>
      <vt:lpstr>Rockwell</vt:lpstr>
      <vt:lpstr>Rockwell Condensed</vt:lpstr>
      <vt:lpstr>Wingdings</vt:lpstr>
      <vt:lpstr>Wood Type</vt:lpstr>
      <vt:lpstr>Ranking FTSE Companies by commitment to diversity</vt:lpstr>
      <vt:lpstr>FTSE-100 Diversity Indicators</vt:lpstr>
      <vt:lpstr>methodology</vt:lpstr>
      <vt:lpstr>PowerPoint Presentation</vt:lpstr>
      <vt:lpstr>PowerPoint Presentation</vt:lpstr>
      <vt:lpstr>PowerPoint Presentation</vt:lpstr>
      <vt:lpstr>PowerPoint Presentation</vt:lpstr>
      <vt:lpstr>PowerPoint Presentation</vt:lpstr>
      <vt:lpstr>Limitations &amp; Improvements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Ashli .</dc:creator>
  <cp:lastModifiedBy>Ashli .</cp:lastModifiedBy>
  <cp:revision>7</cp:revision>
  <dcterms:created xsi:type="dcterms:W3CDTF">2026-03-12T18:31:46Z</dcterms:created>
  <dcterms:modified xsi:type="dcterms:W3CDTF">2026-03-14T10:41:31Z</dcterms:modified>
</cp:coreProperties>
</file>